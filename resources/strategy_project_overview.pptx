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4" r:id="rId2"/>
    <p:sldId id="303" r:id="rId3"/>
    <p:sldId id="336" r:id="rId4"/>
    <p:sldId id="337" r:id="rId5"/>
    <p:sldId id="338" r:id="rId6"/>
    <p:sldId id="339" r:id="rId7"/>
    <p:sldId id="343" r:id="rId8"/>
    <p:sldId id="357" r:id="rId9"/>
    <p:sldId id="344" r:id="rId10"/>
    <p:sldId id="361" r:id="rId11"/>
    <p:sldId id="358" r:id="rId12"/>
    <p:sldId id="359" r:id="rId13"/>
    <p:sldId id="362" r:id="rId14"/>
    <p:sldId id="3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341FF-C08C-4995-B57F-A9B1CC290DA1}" v="5" dt="2026-02-03T04:31:04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Hansen" userId="0576619b1f3050f5" providerId="LiveId" clId="{AE2D4777-34F0-48C2-BE2B-25C33C53684E}"/>
    <pc:docChg chg="undo custSel delSld modSld">
      <pc:chgData name="Benjamin Hansen" userId="0576619b1f3050f5" providerId="LiveId" clId="{AE2D4777-34F0-48C2-BE2B-25C33C53684E}" dt="2026-02-03T04:31:31.810" v="229" actId="20577"/>
      <pc:docMkLst>
        <pc:docMk/>
      </pc:docMkLst>
      <pc:sldChg chg="modSp">
        <pc:chgData name="Benjamin Hansen" userId="0576619b1f3050f5" providerId="LiveId" clId="{AE2D4777-34F0-48C2-BE2B-25C33C53684E}" dt="2026-02-03T04:16:44.022" v="0" actId="20578"/>
        <pc:sldMkLst>
          <pc:docMk/>
          <pc:sldMk cId="1791080830" sldId="336"/>
        </pc:sldMkLst>
        <pc:spChg chg="mod">
          <ac:chgData name="Benjamin Hansen" userId="0576619b1f3050f5" providerId="LiveId" clId="{AE2D4777-34F0-48C2-BE2B-25C33C53684E}" dt="2026-02-03T04:16:44.022" v="0" actId="20578"/>
          <ac:spMkLst>
            <pc:docMk/>
            <pc:sldMk cId="1791080830" sldId="336"/>
            <ac:spMk id="4" creationId="{3F20B63B-40C9-17FD-27D2-10FAF5ED91CA}"/>
          </ac:spMkLst>
        </pc:spChg>
      </pc:sldChg>
      <pc:sldChg chg="modSp mod">
        <pc:chgData name="Benjamin Hansen" userId="0576619b1f3050f5" providerId="LiveId" clId="{AE2D4777-34F0-48C2-BE2B-25C33C53684E}" dt="2026-02-03T04:17:28.749" v="38" actId="20577"/>
        <pc:sldMkLst>
          <pc:docMk/>
          <pc:sldMk cId="2287203648" sldId="337"/>
        </pc:sldMkLst>
        <pc:spChg chg="mod">
          <ac:chgData name="Benjamin Hansen" userId="0576619b1f3050f5" providerId="LiveId" clId="{AE2D4777-34F0-48C2-BE2B-25C33C53684E}" dt="2026-02-03T04:17:28.749" v="38" actId="20577"/>
          <ac:spMkLst>
            <pc:docMk/>
            <pc:sldMk cId="2287203648" sldId="337"/>
            <ac:spMk id="3" creationId="{EBE00C6B-4753-61C3-57B2-60553D243FA9}"/>
          </ac:spMkLst>
        </pc:spChg>
      </pc:sldChg>
      <pc:sldChg chg="modSp mod">
        <pc:chgData name="Benjamin Hansen" userId="0576619b1f3050f5" providerId="LiveId" clId="{AE2D4777-34F0-48C2-BE2B-25C33C53684E}" dt="2026-02-03T04:18:23.379" v="51" actId="313"/>
        <pc:sldMkLst>
          <pc:docMk/>
          <pc:sldMk cId="2369506657" sldId="339"/>
        </pc:sldMkLst>
        <pc:spChg chg="mod">
          <ac:chgData name="Benjamin Hansen" userId="0576619b1f3050f5" providerId="LiveId" clId="{AE2D4777-34F0-48C2-BE2B-25C33C53684E}" dt="2026-02-03T04:18:23.379" v="51" actId="313"/>
          <ac:spMkLst>
            <pc:docMk/>
            <pc:sldMk cId="2369506657" sldId="339"/>
            <ac:spMk id="3" creationId="{EDB66C04-F887-2CD0-AB96-15C659D300D5}"/>
          </ac:spMkLst>
        </pc:spChg>
      </pc:sldChg>
      <pc:sldChg chg="del">
        <pc:chgData name="Benjamin Hansen" userId="0576619b1f3050f5" providerId="LiveId" clId="{AE2D4777-34F0-48C2-BE2B-25C33C53684E}" dt="2026-02-03T04:19:38.169" v="52" actId="47"/>
        <pc:sldMkLst>
          <pc:docMk/>
          <pc:sldMk cId="1859674960" sldId="340"/>
        </pc:sldMkLst>
      </pc:sldChg>
      <pc:sldChg chg="modSp mod">
        <pc:chgData name="Benjamin Hansen" userId="0576619b1f3050f5" providerId="LiveId" clId="{AE2D4777-34F0-48C2-BE2B-25C33C53684E}" dt="2026-02-03T04:20:22.126" v="54" actId="313"/>
        <pc:sldMkLst>
          <pc:docMk/>
          <pc:sldMk cId="565360805" sldId="358"/>
        </pc:sldMkLst>
        <pc:spChg chg="mod">
          <ac:chgData name="Benjamin Hansen" userId="0576619b1f3050f5" providerId="LiveId" clId="{AE2D4777-34F0-48C2-BE2B-25C33C53684E}" dt="2026-02-03T04:20:22.126" v="54" actId="313"/>
          <ac:spMkLst>
            <pc:docMk/>
            <pc:sldMk cId="565360805" sldId="358"/>
            <ac:spMk id="3" creationId="{471B26BE-79A9-832B-4A6C-5CBF03098F5E}"/>
          </ac:spMkLst>
        </pc:spChg>
      </pc:sldChg>
      <pc:sldChg chg="addSp modSp mod">
        <pc:chgData name="Benjamin Hansen" userId="0576619b1f3050f5" providerId="LiveId" clId="{AE2D4777-34F0-48C2-BE2B-25C33C53684E}" dt="2026-02-03T04:31:31.810" v="229" actId="20577"/>
        <pc:sldMkLst>
          <pc:docMk/>
          <pc:sldMk cId="2786729715" sldId="362"/>
        </pc:sldMkLst>
        <pc:spChg chg="mod">
          <ac:chgData name="Benjamin Hansen" userId="0576619b1f3050f5" providerId="LiveId" clId="{AE2D4777-34F0-48C2-BE2B-25C33C53684E}" dt="2026-02-03T04:31:31.810" v="229" actId="20577"/>
          <ac:spMkLst>
            <pc:docMk/>
            <pc:sldMk cId="2786729715" sldId="362"/>
            <ac:spMk id="3" creationId="{A04478A3-AEA1-3ADA-3447-02002D76F059}"/>
          </ac:spMkLst>
        </pc:spChg>
        <pc:graphicFrameChg chg="add mod">
          <ac:chgData name="Benjamin Hansen" userId="0576619b1f3050f5" providerId="LiveId" clId="{AE2D4777-34F0-48C2-BE2B-25C33C53684E}" dt="2026-02-03T04:31:00.375" v="158"/>
          <ac:graphicFrameMkLst>
            <pc:docMk/>
            <pc:sldMk cId="2786729715" sldId="362"/>
            <ac:graphicFrameMk id="4" creationId="{46EF965F-8CA5-7A72-7192-3EBA27D9706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E21A-A478-42D7-806A-B58A6AC765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F4FF-45FE-4B2B-B5C8-44CD00F52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09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E21A-A478-42D7-806A-B58A6AC765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F4FF-45FE-4B2B-B5C8-44CD00F52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30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E21A-A478-42D7-806A-B58A6AC765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F4FF-45FE-4B2B-B5C8-44CD00F52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4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E21A-A478-42D7-806A-B58A6AC765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F4FF-45FE-4B2B-B5C8-44CD00F52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06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E21A-A478-42D7-806A-B58A6AC765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F4FF-45FE-4B2B-B5C8-44CD00F52D8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735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E21A-A478-42D7-806A-B58A6AC765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F4FF-45FE-4B2B-B5C8-44CD00F52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08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E21A-A478-42D7-806A-B58A6AC765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F4FF-45FE-4B2B-B5C8-44CD00F52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9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E21A-A478-42D7-806A-B58A6AC765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F4FF-45FE-4B2B-B5C8-44CD00F52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8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561E21A-A478-42D7-806A-B58A6AC765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F4FF-45FE-4B2B-B5C8-44CD00F52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4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E21A-A478-42D7-806A-B58A6AC765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F4FF-45FE-4B2B-B5C8-44CD00F52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2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E21A-A478-42D7-806A-B58A6AC765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F4FF-45FE-4B2B-B5C8-44CD00F52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2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561E21A-A478-42D7-806A-B58A6AC765F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434F4FF-45FE-4B2B-B5C8-44CD00F52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71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jabref.sourceforge.net/" TargetMode="External"/><Relationship Id="rId2" Type="http://schemas.openxmlformats.org/officeDocument/2006/relationships/hyperlink" Target="http://www.bibtex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holar.google.com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19298448_Developing_Backtesting_Systematic_Trading_Strategi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837EB-97C8-54EE-DFE2-62085DF99C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UW CFRM 422/522 Strategy Project Overview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51B47FE-45E4-A1D2-5954-3A604BFDBD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835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B3A2-6510-285C-F129-88B1465B9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Strategy Project Goals?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2F83D-DDBE-E0B6-8D97-4A4851817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811617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synthesize knowledge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from replication project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or completely new strategy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demonstrate scientific process on strategy development and analysis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i="1" dirty="0">
                <a:effectLst/>
                <a:latin typeface="inherit"/>
              </a:rPr>
              <a:t>it doesn’t need to make money</a:t>
            </a:r>
            <a:endParaRPr lang="en-US" dirty="0">
              <a:effectLst/>
              <a:latin typeface="inherit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critically analyze each component of the strategy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latin typeface="inherit"/>
              </a:rPr>
              <a:t>It does need to use market data (not simulated data that is often used in the market making literature) </a:t>
            </a:r>
            <a:endParaRPr lang="en-US" dirty="0"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492733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71F0F-AA28-5C93-FA0B-C30158A0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0B63B-40C9-17FD-27D2-10FAF5ED9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28640"/>
            <a:ext cx="7729728" cy="3762755"/>
          </a:xfrm>
        </p:spPr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primary process resource is the </a:t>
            </a:r>
            <a:r>
              <a:rPr lang="en-US" i="1" dirty="0">
                <a:effectLst/>
                <a:latin typeface="inherit"/>
              </a:rPr>
              <a:t>Developing and </a:t>
            </a:r>
            <a:r>
              <a:rPr lang="en-US" i="1" dirty="0" err="1">
                <a:effectLst/>
                <a:latin typeface="inherit"/>
              </a:rPr>
              <a:t>Backtesting</a:t>
            </a:r>
            <a:r>
              <a:rPr lang="en-US" i="1" dirty="0">
                <a:effectLst/>
                <a:latin typeface="inherit"/>
              </a:rPr>
              <a:t> Systematic Trading Strategies</a:t>
            </a:r>
            <a:r>
              <a:rPr lang="en-US" dirty="0">
                <a:effectLst/>
                <a:latin typeface="inherit"/>
              </a:rPr>
              <a:t> essay (Peterson 2017)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lectures cover added color on topics covered in the process essay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you should review the lectures (or re-review them) in the order that you are working on a specific technique for your project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additional process help may come from Aronson (2006), Pardo (2008), Fitschen (2013), Kestner (2003), and Narang (2013)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you will need to read (and cite!) more academic papers and books specific to your project as well</a:t>
            </a:r>
          </a:p>
        </p:txBody>
      </p:sp>
    </p:spTree>
    <p:extLst>
      <p:ext uri="{BB962C8B-B14F-4D97-AF65-F5344CB8AC3E}">
        <p14:creationId xmlns:p14="http://schemas.microsoft.com/office/powerpoint/2010/main" val="1791080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FA63-6E21-B436-BEFF-A455FC4C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it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00C6B-4753-61C3-57B2-60553D243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real strategies are only done when: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you abandon research, or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you take it out of production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the project is done when it’s due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time box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complete as much analysis as you can fit 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20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13D7B-D045-A8AB-A759-8D7CC29C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Organizing Collab/</a:t>
            </a:r>
            <a:r>
              <a:rPr lang="en-US" dirty="0" err="1"/>
              <a:t>JuyPter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E22AE-85EC-1645-FD82-68EA7CF4D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65034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single notebook model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outline first, fill in as you go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add notes in other/later sections as you work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multiple file model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one section per file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compile regularly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don’t worry about turning in messy drafts!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036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EDC2C-6826-0C98-0AB3-7A5862761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66C04-F887-2CD0-AB96-15C659D30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729240"/>
            <a:ext cx="7729728" cy="3832104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code and write as you go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Implement key analytical techniques first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make as much use of existing code/packages as possible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look in languages other than Python</a:t>
            </a:r>
            <a:r>
              <a:rPr lang="en-US" dirty="0">
                <a:latin typeface="inherit"/>
              </a:rPr>
              <a:t> </a:t>
            </a:r>
            <a:r>
              <a:rPr lang="en-US" dirty="0">
                <a:effectLst/>
                <a:latin typeface="inherit"/>
              </a:rPr>
              <a:t>if you need to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make sure your code and document compiles at every stage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validate your results and write about your conclusions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your process is more important than trying to organize too early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06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23DCC-F794-193A-E0C7-A5FCABDE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Grading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00807E-7222-64EA-E72F-D06BFAE5A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444482"/>
              </p:ext>
            </p:extLst>
          </p:nvPr>
        </p:nvGraphicFramePr>
        <p:xfrm>
          <a:off x="663988" y="2408153"/>
          <a:ext cx="5432012" cy="4280792"/>
        </p:xfrm>
        <a:graphic>
          <a:graphicData uri="http://schemas.openxmlformats.org/drawingml/2006/table">
            <a:tbl>
              <a:tblPr/>
              <a:tblGrid>
                <a:gridCol w="5432012">
                  <a:extLst>
                    <a:ext uri="{9D8B030D-6E8A-4147-A177-3AD203B41FA5}">
                      <a16:colId xmlns:a16="http://schemas.microsoft.com/office/drawing/2014/main" val="1084166450"/>
                    </a:ext>
                  </a:extLst>
                </a:gridCol>
              </a:tblGrid>
              <a:tr h="2422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/>
                        <a:t>Criteria</a:t>
                      </a:r>
                    </a:p>
                  </a:txBody>
                  <a:tcPr marL="30713" marR="30713" marT="15356" marB="15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037349"/>
                  </a:ext>
                </a:extLst>
              </a:tr>
              <a:tr h="7434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/>
                        <a:t>Complete summary of hypotheses and tests for all components of the strategy (overall strategy theory, indicators, signal process, rules)</a:t>
                      </a:r>
                    </a:p>
                  </a:txBody>
                  <a:tcPr marL="30713" marR="30713" marT="15356" marB="15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812975"/>
                  </a:ext>
                </a:extLst>
              </a:tr>
              <a:tr h="3912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/>
                        <a:t>Describe Constraints, Benchmarks, and Objectives of Strategy</a:t>
                      </a:r>
                    </a:p>
                  </a:txBody>
                  <a:tcPr marL="30713" marR="30713" marT="15356" marB="15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982255"/>
                  </a:ext>
                </a:extLst>
              </a:tr>
              <a:tr h="2422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/>
                        <a:t>Data Description</a:t>
                      </a:r>
                    </a:p>
                  </a:txBody>
                  <a:tcPr marL="30713" marR="30713" marT="15356" marB="15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347185"/>
                  </a:ext>
                </a:extLst>
              </a:tr>
              <a:tr h="3912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/>
                        <a:t>Describe Indicators, Test indicators separately from the strategy</a:t>
                      </a:r>
                    </a:p>
                  </a:txBody>
                  <a:tcPr marL="30713" marR="30713" marT="15356" marB="15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061196"/>
                  </a:ext>
                </a:extLst>
              </a:tr>
              <a:tr h="3912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/>
                        <a:t>Describe signal process, test signal process separately from the overall strategy</a:t>
                      </a:r>
                    </a:p>
                  </a:txBody>
                  <a:tcPr marL="30713" marR="30713" marT="15356" marB="15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843316"/>
                  </a:ext>
                </a:extLst>
              </a:tr>
              <a:tr h="2738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/>
                        <a:t>Describe Rule process, test rules incrementally</a:t>
                      </a:r>
                    </a:p>
                  </a:txBody>
                  <a:tcPr marL="30713" marR="30713" marT="15356" marB="15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265016"/>
                  </a:ext>
                </a:extLst>
              </a:tr>
              <a:tr h="2738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/>
                        <a:t>Assess optimization of parameters</a:t>
                      </a:r>
                    </a:p>
                  </a:txBody>
                  <a:tcPr marL="30713" marR="30713" marT="15356" marB="15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36233"/>
                  </a:ext>
                </a:extLst>
              </a:tr>
              <a:tr h="5086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/>
                        <a:t>Apply walk forward analysis, discuss choice of objective function and impact on parameter choice</a:t>
                      </a:r>
                    </a:p>
                  </a:txBody>
                  <a:tcPr marL="30713" marR="30713" marT="15356" marB="15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084906"/>
                  </a:ext>
                </a:extLst>
              </a:tr>
              <a:tr h="2422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/>
                        <a:t>Assess Overfitting</a:t>
                      </a:r>
                    </a:p>
                  </a:txBody>
                  <a:tcPr marL="30713" marR="30713" marT="15356" marB="15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888321"/>
                  </a:ext>
                </a:extLst>
              </a:tr>
              <a:tr h="5086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dirty="0"/>
                        <a:t>Extend the analysis with other asset classes, additional similar techniques, or more sophisticated models</a:t>
                      </a:r>
                    </a:p>
                  </a:txBody>
                  <a:tcPr marL="30713" marR="30713" marT="15356" marB="15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420752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E87C01E3-E8B2-28FD-43DC-E2749FCFD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003" y="2425545"/>
            <a:ext cx="5154455" cy="2006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4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all categories are worth 10 points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‘Excellent’ (10 pts) is publication quality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no points for having nothing in your project for that criteria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substitutions OK, with discussion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500" dirty="0">
              <a:latin typeface="inheri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heri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Since grading a bit more harshly, will apply a helpful curve to </a:t>
            </a:r>
            <a:r>
              <a:rPr lang="en-US" altLang="en-US" sz="1500" dirty="0">
                <a:latin typeface="inherit"/>
              </a:rPr>
              <a:t>improve the final scores.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2611708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1D95-BCAD-0130-324D-C456FEE96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Turn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6B3C0-7ED6-E299-30DE-C317B8F44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567312"/>
          </a:xfrm>
        </p:spPr>
        <p:txBody>
          <a:bodyPr numCol="1">
            <a:normAutofit lnSpcReduction="10000"/>
          </a:bodyPr>
          <a:lstStyle/>
          <a:p>
            <a:pPr fontAlgn="base"/>
            <a:r>
              <a:rPr lang="en-US" dirty="0">
                <a:effectLst/>
                <a:latin typeface="inherit"/>
              </a:rPr>
              <a:t>Please submit to Canvas: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a PDF of the project (for intermediate deadlines)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I can comment on it directly in Canvas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a zip or </a:t>
            </a:r>
            <a:r>
              <a:rPr lang="en-US" dirty="0" err="1">
                <a:effectLst/>
                <a:latin typeface="inherit"/>
              </a:rPr>
              <a:t>gz</a:t>
            </a:r>
            <a:r>
              <a:rPr lang="en-US" dirty="0">
                <a:effectLst/>
                <a:latin typeface="inherit"/>
              </a:rPr>
              <a:t> file containing your project directory for the final submission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must include the collab or </a:t>
            </a:r>
            <a:r>
              <a:rPr lang="en-US" dirty="0" err="1">
                <a:effectLst/>
                <a:latin typeface="inherit"/>
              </a:rPr>
              <a:t>juypter</a:t>
            </a:r>
            <a:r>
              <a:rPr lang="en-US" dirty="0">
                <a:effectLst/>
                <a:latin typeface="inherit"/>
              </a:rPr>
              <a:t> notebook for the project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include any ancillary python scripts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include code for loading, parsing, cleaning your data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your bibliographic reference file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include your data if not too large, if large make arrangements to get it to me outside Canvas</a:t>
            </a:r>
          </a:p>
        </p:txBody>
      </p:sp>
    </p:spTree>
    <p:extLst>
      <p:ext uri="{BB962C8B-B14F-4D97-AF65-F5344CB8AC3E}">
        <p14:creationId xmlns:p14="http://schemas.microsoft.com/office/powerpoint/2010/main" val="2717513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A730E-8958-43E5-18C3-70494C689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DFBDF-E0AB-823F-34AF-D9273BD18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78994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License your work!</a:t>
            </a: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you want credit for your efforts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others may want to cite you or reuse your work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I recommend the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A7CDF"/>
                </a:solidFill>
                <a:effectLst/>
                <a:latin typeface="inherit"/>
                <a:hlinkClick r:id="rId3"/>
              </a:rPr>
              <a:t>Creative Commons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 CC-BY license for your strategy projects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             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CC-BY</a:t>
            </a: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heri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You may want to </a:t>
            </a:r>
            <a:r>
              <a:rPr lang="en-US" altLang="en-US" dirty="0">
                <a:solidFill>
                  <a:schemeClr val="tx1"/>
                </a:solidFill>
                <a:latin typeface="inherit"/>
              </a:rPr>
              <a:t>consider publishing your work or contributing to a Python package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students in later years want examples to help their projects</a:t>
            </a:r>
            <a:endParaRPr lang="en-US" altLang="en-US" dirty="0">
              <a:solidFill>
                <a:schemeClr val="tx1"/>
              </a:solidFill>
              <a:latin typeface="inherit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inherit"/>
              </a:rPr>
              <a:t>Can serve to boost your reputation (you never know where your next job can come from)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heri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C06AF2-BE06-11E6-E58D-26D2C1390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A28919B-38AD-3205-9644-3FA430CE5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979" y="3996223"/>
            <a:ext cx="8382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4517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005A0-60BA-EA2F-4995-E9C2FA96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D1F1F-6C8E-F687-C89D-C62BD9B29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examples under course examples.</a:t>
            </a:r>
          </a:p>
          <a:p>
            <a:r>
              <a:rPr lang="en-US" dirty="0"/>
              <a:t>Previously taught in R/Python so there may be differences in programs</a:t>
            </a:r>
          </a:p>
          <a:p>
            <a:r>
              <a:rPr lang="en-US" dirty="0"/>
              <a:t>These are not necessarily perfect examples</a:t>
            </a:r>
          </a:p>
          <a:p>
            <a:endParaRPr lang="en-US" dirty="0"/>
          </a:p>
          <a:p>
            <a:r>
              <a:rPr lang="en-US" dirty="0"/>
              <a:t>Your strategy can be an extension of one of these projects or your replication project but you need to add meaningful improvement over the existing 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322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B058-BABA-9AEE-9385-FBCC1AF81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Collab/</a:t>
            </a:r>
            <a:r>
              <a:rPr lang="en-US" dirty="0" err="1"/>
              <a:t>Juypter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26BE-79A9-832B-4A6C-5CBF03098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project will be in Collab/</a:t>
            </a:r>
            <a:r>
              <a:rPr lang="en-US" dirty="0" err="1">
                <a:effectLst/>
                <a:latin typeface="inherit"/>
              </a:rPr>
              <a:t>Juypter</a:t>
            </a:r>
            <a:r>
              <a:rPr lang="en-US" dirty="0">
                <a:effectLst/>
                <a:latin typeface="inherit"/>
              </a:rPr>
              <a:t> notebook</a:t>
            </a:r>
          </a:p>
          <a:p>
            <a:pPr lvl="1" fontAlgn="base"/>
            <a:r>
              <a:rPr lang="en-US" dirty="0">
                <a:latin typeface="inherit"/>
              </a:rPr>
              <a:t>Lit Review may be in any common word processing format</a:t>
            </a:r>
            <a:endParaRPr lang="en-US" dirty="0">
              <a:effectLst/>
              <a:latin typeface="inherit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your project must be </a:t>
            </a:r>
            <a:r>
              <a:rPr lang="en-US" dirty="0" err="1">
                <a:effectLst/>
                <a:latin typeface="inherit"/>
              </a:rPr>
              <a:t>compilable</a:t>
            </a:r>
            <a:r>
              <a:rPr lang="en-US" dirty="0">
                <a:effectLst/>
                <a:latin typeface="inherit"/>
              </a:rPr>
              <a:t> and complete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you will turn in any python, .bib, and data files</a:t>
            </a:r>
          </a:p>
        </p:txBody>
      </p:sp>
    </p:spTree>
    <p:extLst>
      <p:ext uri="{BB962C8B-B14F-4D97-AF65-F5344CB8AC3E}">
        <p14:creationId xmlns:p14="http://schemas.microsoft.com/office/powerpoint/2010/main" val="565360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CC4E-B08C-98C5-5046-A7714BAD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BibTeX</a:t>
            </a:r>
            <a:r>
              <a:rPr lang="en-US" dirty="0"/>
              <a:t> (and </a:t>
            </a:r>
            <a:r>
              <a:rPr lang="en-US" dirty="0" err="1"/>
              <a:t>Jabref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9ED86-E5BA-2189-BA36-6942F9147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all references will be in </a:t>
            </a:r>
            <a:r>
              <a:rPr lang="en-US" u="none" strike="noStrike" dirty="0" err="1">
                <a:solidFill>
                  <a:srgbClr val="000000"/>
                </a:solidFill>
                <a:effectLst/>
                <a:latin typeface="inherit"/>
                <a:hlinkClick r:id="rId2"/>
              </a:rPr>
              <a:t>BibTeX</a:t>
            </a:r>
            <a:r>
              <a:rPr lang="en-US" dirty="0">
                <a:effectLst/>
                <a:latin typeface="inherit"/>
              </a:rPr>
              <a:t> and you will hand in your .bib files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u="none" strike="noStrike" dirty="0" err="1">
                <a:solidFill>
                  <a:srgbClr val="2A7CDF"/>
                </a:solidFill>
                <a:effectLst/>
                <a:latin typeface="inherit"/>
                <a:hlinkClick r:id="rId3"/>
              </a:rPr>
              <a:t>Jabref</a:t>
            </a:r>
            <a:r>
              <a:rPr lang="en-US" dirty="0">
                <a:effectLst/>
                <a:latin typeface="inherit"/>
              </a:rPr>
              <a:t> is free, multi-platform, and enterprise grade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works with </a:t>
            </a:r>
            <a:r>
              <a:rPr lang="en-US" u="none" strike="noStrike" dirty="0">
                <a:solidFill>
                  <a:srgbClr val="2A7CDF"/>
                </a:solidFill>
                <a:effectLst/>
                <a:latin typeface="inherit"/>
                <a:hlinkClick r:id="rId4"/>
              </a:rPr>
              <a:t>Google Scholar</a:t>
            </a:r>
            <a:r>
              <a:rPr lang="en-US" dirty="0">
                <a:effectLst/>
                <a:latin typeface="inherit"/>
              </a:rPr>
              <a:t> to import references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inherit"/>
              </a:rPr>
              <a:t>include URLs to the papers/books you cite!</a:t>
            </a:r>
          </a:p>
        </p:txBody>
      </p:sp>
    </p:spTree>
    <p:extLst>
      <p:ext uri="{BB962C8B-B14F-4D97-AF65-F5344CB8AC3E}">
        <p14:creationId xmlns:p14="http://schemas.microsoft.com/office/powerpoint/2010/main" val="2759069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B251-425E-B434-5E10-3B82BD6D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478A3-AEA1-3ADA-3447-02002D76F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students will create a short presentation</a:t>
            </a:r>
          </a:p>
          <a:p>
            <a:r>
              <a:rPr lang="en-US" dirty="0"/>
              <a:t>Pass/Fail for participation </a:t>
            </a:r>
          </a:p>
          <a:p>
            <a:r>
              <a:rPr lang="en-US" dirty="0"/>
              <a:t>Online-only students can give their presentation virtually</a:t>
            </a:r>
          </a:p>
          <a:p>
            <a:r>
              <a:rPr lang="en-US" dirty="0"/>
              <a:t>In person presentations days: March 10</a:t>
            </a:r>
            <a:r>
              <a:rPr lang="en-US" baseline="30000" dirty="0"/>
              <a:t>th</a:t>
            </a:r>
            <a:r>
              <a:rPr lang="en-US" dirty="0"/>
              <a:t>  and 12</a:t>
            </a:r>
            <a:r>
              <a:rPr lang="en-US" baseline="30000" dirty="0"/>
              <a:t>th </a:t>
            </a:r>
          </a:p>
          <a:p>
            <a:r>
              <a:rPr lang="en-US" dirty="0"/>
              <a:t>Details to come given large </a:t>
            </a:r>
            <a:r>
              <a:rPr lang="en-US"/>
              <a:t>class size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2786729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C6CF2-F764-7FF1-5E05-DBFF04DFE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32DC-F5BE-422F-0469-60E89A277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en-US" dirty="0">
                <a:effectLst/>
                <a:latin typeface="inherit"/>
              </a:rPr>
              <a:t>Aronson, David. 2006. </a:t>
            </a:r>
            <a:r>
              <a:rPr lang="en-US" i="1" dirty="0">
                <a:effectLst/>
                <a:latin typeface="inherit"/>
              </a:rPr>
              <a:t>Evidence-Based Technical Analysis: Applying the Scientific Method and Statistical Inference to Trading Signals</a:t>
            </a:r>
            <a:r>
              <a:rPr lang="en-US" dirty="0">
                <a:effectLst/>
                <a:latin typeface="inherit"/>
              </a:rPr>
              <a:t>. Wiley.</a:t>
            </a:r>
          </a:p>
          <a:p>
            <a:pPr fontAlgn="base"/>
            <a:r>
              <a:rPr lang="en-US" dirty="0" err="1">
                <a:effectLst/>
                <a:latin typeface="inherit"/>
              </a:rPr>
              <a:t>Fitschen</a:t>
            </a:r>
            <a:r>
              <a:rPr lang="en-US" dirty="0">
                <a:effectLst/>
                <a:latin typeface="inherit"/>
              </a:rPr>
              <a:t>, Keith. 2013. </a:t>
            </a:r>
            <a:r>
              <a:rPr lang="en-US" i="1" dirty="0">
                <a:effectLst/>
                <a:latin typeface="inherit"/>
              </a:rPr>
              <a:t>Building Reliable Trading Systems</a:t>
            </a:r>
            <a:r>
              <a:rPr lang="en-US" dirty="0">
                <a:effectLst/>
                <a:latin typeface="inherit"/>
              </a:rPr>
              <a:t>. John Wiley &amp; Sons, Inc.</a:t>
            </a:r>
          </a:p>
          <a:p>
            <a:pPr fontAlgn="base"/>
            <a:r>
              <a:rPr lang="en-US" dirty="0" err="1">
                <a:effectLst/>
                <a:latin typeface="inherit"/>
              </a:rPr>
              <a:t>Kestner</a:t>
            </a:r>
            <a:r>
              <a:rPr lang="en-US" dirty="0">
                <a:effectLst/>
                <a:latin typeface="inherit"/>
              </a:rPr>
              <a:t>, Lars. 2003. </a:t>
            </a:r>
            <a:r>
              <a:rPr lang="en-US" i="1" dirty="0">
                <a:effectLst/>
                <a:latin typeface="inherit"/>
              </a:rPr>
              <a:t>Quantitative Trading Strategies: Harnessing the Power of Quantitative Techniques to Create a Winning Trading Program</a:t>
            </a:r>
            <a:r>
              <a:rPr lang="en-US" dirty="0">
                <a:effectLst/>
                <a:latin typeface="inherit"/>
              </a:rPr>
              <a:t>. McGraw-Hill.</a:t>
            </a:r>
          </a:p>
          <a:p>
            <a:pPr fontAlgn="base"/>
            <a:r>
              <a:rPr lang="en-US" dirty="0">
                <a:effectLst/>
                <a:latin typeface="inherit"/>
              </a:rPr>
              <a:t>Narang, Rishi K. 2013. </a:t>
            </a:r>
            <a:r>
              <a:rPr lang="en-US" i="1" dirty="0">
                <a:effectLst/>
                <a:latin typeface="inherit"/>
              </a:rPr>
              <a:t>Inside the Black Box: A Simple Guide to Quantitative and High Frequency Trading</a:t>
            </a:r>
            <a:r>
              <a:rPr lang="en-US" dirty="0">
                <a:effectLst/>
                <a:latin typeface="inherit"/>
              </a:rPr>
              <a:t>. John Wiley &amp; Sons.</a:t>
            </a:r>
          </a:p>
          <a:p>
            <a:pPr fontAlgn="base"/>
            <a:r>
              <a:rPr lang="en-US" dirty="0">
                <a:effectLst/>
                <a:latin typeface="inherit"/>
              </a:rPr>
              <a:t>Pardo, Robert. 2008. </a:t>
            </a:r>
            <a:r>
              <a:rPr lang="en-US" i="1" dirty="0">
                <a:effectLst/>
                <a:latin typeface="inherit"/>
              </a:rPr>
              <a:t>The Evaluation and Optimization of Trading Strategies</a:t>
            </a:r>
            <a:r>
              <a:rPr lang="en-US" dirty="0">
                <a:effectLst/>
                <a:latin typeface="inherit"/>
              </a:rPr>
              <a:t>. Second ed. John Wiley &amp; Sons.</a:t>
            </a:r>
          </a:p>
          <a:p>
            <a:pPr fontAlgn="base"/>
            <a:r>
              <a:rPr lang="en-US" dirty="0">
                <a:effectLst/>
                <a:latin typeface="inherit"/>
              </a:rPr>
              <a:t>Peterson, Brian G. 2017. “Developing &amp; </a:t>
            </a:r>
            <a:r>
              <a:rPr lang="en-US" dirty="0" err="1">
                <a:effectLst/>
                <a:latin typeface="inherit"/>
              </a:rPr>
              <a:t>Backtesting</a:t>
            </a:r>
            <a:r>
              <a:rPr lang="en-US" dirty="0">
                <a:effectLst/>
                <a:latin typeface="inherit"/>
              </a:rPr>
              <a:t> Systematic Trading Strategies.” </a:t>
            </a:r>
            <a:r>
              <a:rPr lang="en-US" u="none" strike="noStrike" dirty="0">
                <a:solidFill>
                  <a:srgbClr val="2A7CDF"/>
                </a:solidFill>
                <a:effectLst/>
                <a:latin typeface="inherit"/>
              </a:rPr>
              <a:t> </a:t>
            </a:r>
            <a:r>
              <a:rPr lang="en-US" u="none" strike="noStrike" dirty="0">
                <a:solidFill>
                  <a:srgbClr val="2A7CDF"/>
                </a:solidFill>
                <a:effectLst/>
                <a:latin typeface="inherit"/>
                <a:hlinkClick r:id="rId2"/>
              </a:rPr>
              <a:t>https://www.researchgate.net/publication/319298448_Developing_Backtesting_Systematic_Trading_Strategies</a:t>
            </a:r>
            <a:r>
              <a:rPr lang="en-US" u="none" strike="noStrike" dirty="0">
                <a:solidFill>
                  <a:srgbClr val="2A7CDF"/>
                </a:solidFill>
                <a:latin typeface="inherit"/>
              </a:rPr>
              <a:t> </a:t>
            </a:r>
            <a:endParaRPr lang="en-US" dirty="0">
              <a:effectLst/>
              <a:latin typeface="inheri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89273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2556</TotalTime>
  <Words>952</Words>
  <Application>Microsoft Office PowerPoint</Application>
  <PresentationFormat>Widescreen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inherit</vt:lpstr>
      <vt:lpstr>Parcel</vt:lpstr>
      <vt:lpstr>UW CFRM 422/522 Strategy Project Overview</vt:lpstr>
      <vt:lpstr>Strategy Project Goals?</vt:lpstr>
      <vt:lpstr>Resources</vt:lpstr>
      <vt:lpstr>Getting it Done</vt:lpstr>
      <vt:lpstr>Organizing Collab/JuyPter Notebook</vt:lpstr>
      <vt:lpstr>Building the Model</vt:lpstr>
      <vt:lpstr>Grading</vt:lpstr>
      <vt:lpstr>What to Turn In</vt:lpstr>
      <vt:lpstr>Licensing</vt:lpstr>
      <vt:lpstr>Examples</vt:lpstr>
      <vt:lpstr>Collab/Juypter Notebook</vt:lpstr>
      <vt:lpstr>BibTeX (and Jabref)</vt:lpstr>
      <vt:lpstr>Final Presentations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Questions from Week 2 (Wed)</dc:title>
  <dc:creator>Ben Hansen | Rotella Capital</dc:creator>
  <cp:lastModifiedBy>Benjamin Hansen</cp:lastModifiedBy>
  <cp:revision>12</cp:revision>
  <dcterms:created xsi:type="dcterms:W3CDTF">2024-04-10T02:50:30Z</dcterms:created>
  <dcterms:modified xsi:type="dcterms:W3CDTF">2026-02-03T04:31:34Z</dcterms:modified>
</cp:coreProperties>
</file>